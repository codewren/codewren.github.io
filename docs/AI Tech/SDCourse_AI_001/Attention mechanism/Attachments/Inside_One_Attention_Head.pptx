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13233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3108960" cy="3108960"/>
          </a:xfrm>
          <a:prstGeom prst="ellipse">
            <a:avLst/>
          </a:prstGeom>
          <a:solidFill>
            <a:srgbClr val="173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Head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matrix and vector, with its exact dimensions — using a real GPT-style configuration.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</a:t>
            </a:r>
            <a:pPr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        </a:t>
            </a:r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 = 512</a:t>
            </a:r>
            <a:pPr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 width        </a:t>
            </a:r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 = 64</a:t>
            </a:r>
            <a:pPr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per-head dim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d_model and d_k actually mean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widths. One is the model's; the other is a single head's slice of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1323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 = 512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width of a token's embedding — how many
numbers represent each token as it flows through
the model.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layer's input and output is (n, d_model).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same for the whole model.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13233B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 = 64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width of the query/key vectors inside ONE
head — the smaller space each head projects into.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W_Q, W_K each have shape (d_model, d_k),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map 512 → 64 for this head.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A1A2E"/>
          </a:solidFill>
          <a:ln w="15875">
            <a:solidFill>
              <a:srgbClr val="22D3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245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relate:   </a:t>
            </a:r>
            <a:pPr indent="0" marL="0">
              <a:buNone/>
            </a:pPr>
            <a:r>
              <a:rPr lang="en-US" sz="1900" b="1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 = d_model / num_heads   =   512 / 8   =   64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7548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splits its 512-wide representation across 8 heads. Each head works in its own 64-dim slice, then all 8 outputs are concatenated back to 512. d_k is not chosen freely — it is forced by this split.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slide's numbers (512, 8 heads, 64) are a standard configuration — e.g. the original Transformer base model. We follow just one of the 8 heads from here on.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6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9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2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7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0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3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6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input: token embeddings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n = 3 tokens is a row; each row is a d_model = 512 vector. Together they form 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78224" y="2340864"/>
            <a:ext cx="3310128" cy="1737360"/>
          </a:xfrm>
          <a:prstGeom prst="roundRect">
            <a:avLst>
              <a:gd name="adj" fmla="val 4211"/>
            </a:avLst>
          </a:prstGeom>
          <a:solidFill>
            <a:srgbClr val="1323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2468880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2468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28032" y="2468880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2468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49824" y="2468880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2468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1616" y="2468880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2468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93408" y="2468880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2468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2980944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9809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2980944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9809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9824" y="2980944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29809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71616" y="2980944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29809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93408" y="2980944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29809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06240" y="3493008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4930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28032" y="3493008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4930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49824" y="3493008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9824" y="34930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71616" y="3493008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34930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93408" y="3493008"/>
            <a:ext cx="56692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34930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78224" y="190195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(input embeddings)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078224" y="413308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= (n=3, d_model=512)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1752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017520" y="29809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017520" y="34930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2062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row has 512 numbers — shown truncated)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what the layer receives. Every matrix in this head is derived from X — nothing else is fed in.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0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3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6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9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2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5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8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1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4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7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0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3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6" dur="4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9" dur="4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4" dur="4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7" dur="4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0" dur="4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3" dur="4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6" dur="4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9" dur="4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2" dur="4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5" dur="4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8" dur="4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1" dur="4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4" dur="4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7" dur="4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0" dur="4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3" dur="4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6" dur="4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9" dur="4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2" dur="40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5" dur="40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8" dur="40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project X into Q, K, 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learned weight matrices, each (d_model=512, d_k=64), map every 512-vector down to a 64-vector.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3233B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n×512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87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(3, 512)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37560" y="251460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3233B"/>
          </a:solidFill>
          <a:ln w="15875">
            <a:solidFill>
              <a:srgbClr val="22D3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W_Q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512×64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4087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(512, 64)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943600" y="251460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3233B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25146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n×64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4087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(3, 64)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23774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3233B"/>
          </a:solidFill>
          <a:ln w="9525">
            <a:solidFill>
              <a:srgbClr val="8FA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5146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recipe for K and V
</a:t>
            </a:r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X × W_K  → (3, 64)
</a:t>
            </a:r>
            <a:pPr indent="0" marL="0">
              <a:buNone/>
            </a:pPr>
            <a:r>
              <a:rPr lang="en-US" sz="1400" dirty="0">
                <a:solidFill>
                  <a:srgbClr val="F97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X × W_V  → (3, 64)
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 K, V all share shape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 d_k) = (3, 64).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(3,512) × (512,64) = (3,64): the inner 512 cancels. This is where each token's 512-vector becomes a 64-dim query, key and value.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3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6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1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4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9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2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7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0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5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8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1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4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7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0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3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raw attention scores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Q by K transposed. The shared d_k = 64 cancels, leaving one score per token pair.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n×64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087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(3, 64)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703320" y="26060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64×n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4087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(64, 3)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27064" y="2478024"/>
            <a:ext cx="2066544" cy="1627632"/>
          </a:xfrm>
          <a:prstGeom prst="roundRect">
            <a:avLst>
              <a:gd name="adj" fmla="val 4494"/>
            </a:avLst>
          </a:prstGeom>
          <a:solidFill>
            <a:srgbClr val="13233B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606040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60604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s₁₁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76872" y="2606040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260604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s₁₂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98664" y="2606040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260604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s₁₃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3081528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0815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s₂₁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76872" y="3081528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6872" y="30815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s₂₂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98664" y="3081528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98664" y="30815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s₂₃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3557016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5570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s₃₁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76872" y="3557016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35570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s₃₂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98664" y="3557016"/>
            <a:ext cx="56692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F970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8664" y="35570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s₃₃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27064" y="20391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27064" y="416052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 n) = (3, 3)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953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sᵢⱼ = Q[i] · K[j]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59536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product of two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64-dim vectors → one number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shape collapses to (3,3): the 64-dim head vectors disappear into scalars. The result is one square attention grid over the 3 tokens.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2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5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8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1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4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9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2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5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8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1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6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9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2" dur="4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5" dur="4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8" dur="4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3" dur="4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6" dur="4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9" dur="4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2" dur="4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5" dur="4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0" dur="4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3" dur="4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6" dur="4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9" dur="4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2" dur="4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5" dur="4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8" dur="4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1" dur="4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4" dur="4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scale, then softmax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√d_k, then softmax each row into a probability distribution over the tokens.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1323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softmax( scores / √d_k 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√d_k = √64 = 8      softmax applied row-wise (dim = -1)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12864" y="2203704"/>
            <a:ext cx="2340864" cy="1737360"/>
          </a:xfrm>
          <a:prstGeom prst="roundRect">
            <a:avLst>
              <a:gd name="adj" fmla="val 4211"/>
            </a:avLst>
          </a:prstGeom>
          <a:solidFill>
            <a:srgbClr val="1323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33172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3317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54112" y="233172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23317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67344" y="233172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3317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2843784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8437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54112" y="2843784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28437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67344" y="2843784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28437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40880" y="3355848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3558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54112" y="3355848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33558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67344" y="3355848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33558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2864" y="176479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12864" y="399592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3) — each row sums to 1.0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√64 = 8 keeps the dot products from growing large (they sum over 64 terms), which would otherwise make softmax gradients vanish. Row 1: “the” attends 71% to itself.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0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3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6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1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4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7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0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3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6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9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2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7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0" dur="4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3" dur="4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6" dur="4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9" dur="4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2" dur="4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5" dur="4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8" dur="4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1" dur="4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weighted sum of values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weights by V. Each output row is a blend of all value vectors, back in 64-dim space.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60704" y="2478024"/>
            <a:ext cx="1792224" cy="1627632"/>
          </a:xfrm>
          <a:prstGeom prst="roundRect">
            <a:avLst>
              <a:gd name="adj" fmla="val 4494"/>
            </a:avLst>
          </a:prstGeom>
          <a:solidFill>
            <a:srgbClr val="1323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606040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2606040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9424" y="2606040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3081528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9072" y="3081528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9424" y="3081528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557016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9072" y="3557016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9424" y="3557016"/>
            <a:ext cx="475488" cy="420624"/>
          </a:xfrm>
          <a:prstGeom prst="roundRect">
            <a:avLst>
              <a:gd name="adj" fmla="val 8696"/>
            </a:avLst>
          </a:prstGeom>
          <a:solidFill>
            <a:srgbClr val="0B15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0391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0704" y="416052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(3, 3)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794760" y="25146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5875">
            <a:solidFill>
              <a:srgbClr val="F970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94760" y="2514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n×64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3995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(3, 64)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309360" y="25146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5875">
            <a:solidFill>
              <a:srgbClr val="22D3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2514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n×64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995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 d_k) = (3, 64)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9640" y="2514600"/>
            <a:ext cx="2971800" cy="1554480"/>
          </a:xfrm>
          <a:prstGeom prst="roundRect">
            <a:avLst>
              <a:gd name="adj" fmla="val 5882"/>
            </a:avLst>
          </a:prstGeom>
          <a:solidFill>
            <a:srgbClr val="13233B"/>
          </a:solidFill>
          <a:ln w="9525">
            <a:solidFill>
              <a:srgbClr val="8FA6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26517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output[0] =
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0.71·V[0] + 0.18·V[1]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+ 0.11·V[2]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(3,3) × (3,64) = (3,64). Each token gets one refined 64-dim vector. This is this head's output — one of 8 that will be concatenated back to 512.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9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2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5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8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3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6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9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2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7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0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3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6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1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4" dur="4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7" dur="4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0" dur="4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5" dur="4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8" dur="4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1" dur="4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4" dur="4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7" dur="4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head,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Widths flow: 512 in → project to 64 → attend → 64 out. Repeat across 8 heads, concat back to 512.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3233B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
</a:t>
            </a:r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(3,512)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60320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18745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3233B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874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Q,K,V
</a:t>
            </a:r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(3,64)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212080" y="18745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3233B"/>
          </a:solidFill>
          <a:ln w="15875">
            <a:solidFill>
              <a:srgbClr val="F97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874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
</a:t>
            </a:r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(3,3)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49440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406640" y="18745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323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874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
</a:t>
            </a:r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(3,3)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0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601200" y="18745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3233B"/>
          </a:solidFill>
          <a:ln w="15875">
            <a:solidFill>
              <a:srgbClr val="22D3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874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(3,64)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3154680"/>
            <a:ext cx="10515600" cy="3154680"/>
          </a:xfrm>
          <a:prstGeom prst="roundRect">
            <a:avLst>
              <a:gd name="adj" fmla="val 2899"/>
            </a:avLst>
          </a:prstGeom>
          <a:solidFill>
            <a:srgbClr val="0A1A2E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291840"/>
            <a:ext cx="10058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math, torch
</a:t>
            </a:r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d_model, num_heads = 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512, 8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d_k = 512 // 8 = 64
</a:t>
            </a:r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attention_head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W_Q, W_K, W_V):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W_* are (512, 64)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X @ W_Q               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(3,512)@(512,64) -&gt; (3,64)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X @ W_K               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(3,64)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X @ W_V               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(3,64)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 = Q @ K.T         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(3,64)@(64,3) -&gt; (3,3)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= torch.softmax(scores / math.sqrt(Q.shape[-1]), dim=-1)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 = weights @ V     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(3,3)@(3,64) -&gt; (3,64)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output, weights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0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3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6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1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4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7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0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3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6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9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2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Attention Head, Step by Step</dc:title>
  <dc:subject>PptxGenJS Presentation</dc:subject>
  <dc:creator>Claude</dc:creator>
  <cp:lastModifiedBy>Claude</cp:lastModifiedBy>
  <cp:revision>1</cp:revision>
  <dcterms:created xsi:type="dcterms:W3CDTF">2026-07-02T19:05:00Z</dcterms:created>
  <dcterms:modified xsi:type="dcterms:W3CDTF">2026-07-02T19:05:00Z</dcterms:modified>
</cp:coreProperties>
</file>